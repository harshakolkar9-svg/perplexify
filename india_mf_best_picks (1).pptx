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Pick 10Y CAGR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Nippon Lg Cap
(Large)</c:v>
                </c:pt>
                <c:pt idx="1">
                  <c:v>Motilal Midcap
(Mid)</c:v>
                </c:pt>
                <c:pt idx="2">
                  <c:v>HDFC Mid Cap
(Mid)</c:v>
                </c:pt>
                <c:pt idx="3">
                  <c:v>Nippon Sm Cap
(Small)</c:v>
                </c:pt>
                <c:pt idx="4">
                  <c:v>SBI Small Cap
(Small)</c:v>
                </c:pt>
                <c:pt idx="5">
                  <c:v>Parag Parikh
(Flexi)</c:v>
                </c:pt>
                <c:pt idx="6">
                  <c:v>HDFC Flexi Cap
(Flexi)</c:v>
                </c:pt>
                <c:pt idx="7">
                  <c:v>ICICI Multi Asset
(Multi Asset)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</c:v>
                </c:pt>
                <c:pt idx="1">
                  <c:v>21.2</c:v>
                </c:pt>
                <c:pt idx="2">
                  <c:v>18.5</c:v>
                </c:pt>
                <c:pt idx="3">
                  <c:v>23.5</c:v>
                </c:pt>
                <c:pt idx="4">
                  <c:v>22.6</c:v>
                </c:pt>
                <c:pt idx="5">
                  <c:v>20</c:v>
                </c:pt>
                <c:pt idx="6">
                  <c:v>18.5</c:v>
                </c:pt>
                <c:pt idx="7">
                  <c:v>14.5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CA-2D4E-A97B-206E3C4540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Category Average 10Y</c:v>
                </c:pt>
              </c:strCache>
            </c:strRef>
          </c:tx>
          <c:spPr>
            <a:solidFill>
              <a:srgbClr val="D0DC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Nippon Lg Cap
(Large)</c:v>
                </c:pt>
                <c:pt idx="1">
                  <c:v>Motilal Midcap
(Mid)</c:v>
                </c:pt>
                <c:pt idx="2">
                  <c:v>HDFC Mid Cap
(Mid)</c:v>
                </c:pt>
                <c:pt idx="3">
                  <c:v>Nippon Sm Cap
(Small)</c:v>
                </c:pt>
                <c:pt idx="4">
                  <c:v>SBI Small Cap
(Small)</c:v>
                </c:pt>
                <c:pt idx="5">
                  <c:v>Parag Parikh
(Flexi)</c:v>
                </c:pt>
                <c:pt idx="6">
                  <c:v>HDFC Flexi Cap
(Flexi)</c:v>
                </c:pt>
                <c:pt idx="7">
                  <c:v>ICICI Multi Asset
(Multi Asset)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13.5</c:v>
                </c:pt>
                <c:pt idx="1">
                  <c:v>15.5</c:v>
                </c:pt>
                <c:pt idx="2">
                  <c:v>15.5</c:v>
                </c:pt>
                <c:pt idx="3">
                  <c:v>18</c:v>
                </c:pt>
                <c:pt idx="4">
                  <c:v>18</c:v>
                </c:pt>
                <c:pt idx="5">
                  <c:v>15</c:v>
                </c:pt>
                <c:pt idx="6">
                  <c:v>15</c:v>
                </c:pt>
                <c:pt idx="7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CA-2D4E-A97B-206E3C4540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7"/>
          <c:min val="0"/>
        </c:scaling>
        <c:delete val="0"/>
        <c:axPos val="l"/>
        <c:majorGridlines>
          <c:spPr>
            <a:ln w="6350" cap="flat">
              <a:solidFill>
                <a:srgbClr val="D0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5F8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912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9456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9184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3776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8096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7824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326880" y="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9728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64592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19456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9184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4048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38912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93776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3504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8368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13232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8096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22960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77824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326880" y="5486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4864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9728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64592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19456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74320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29184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84048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38912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93776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48640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03504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58368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13232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68096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22960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77824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9326880" y="10972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4864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09728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64592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19456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74320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29184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84048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38912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93776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48640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03504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58368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13232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68096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822960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877824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326880" y="16459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4864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9728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64592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19456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74320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329184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384048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438912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493776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548640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03504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658368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713232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768096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822960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877824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9326880" y="21945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4864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09728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164592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19456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274320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329184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384048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438912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493776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548640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603504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658368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713232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768096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822960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877824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9326880" y="274320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54864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109728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164592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219456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274320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329184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384048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438912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493776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548640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603504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658368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713232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768096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822960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877824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9326880" y="329184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54864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109728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164592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219456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274320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329184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384048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438912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493776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548640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603504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658368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713232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768096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822960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877824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9326880" y="384048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54864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109728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164592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219456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274320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329184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384048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438912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493776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548640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603504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658368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713232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768096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822960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877824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9326880" y="438912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54864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109728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164592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219456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274320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329184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384048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438912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493776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8640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603504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658368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713232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768096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822960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877824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9326880" y="4937760"/>
            <a:ext cx="54864" cy="54864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457200" y="411480"/>
            <a:ext cx="32004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182"/>
          <p:cNvSpPr/>
          <p:nvPr/>
        </p:nvSpPr>
        <p:spPr>
          <a:xfrm>
            <a:off x="457200" y="411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</a:rPr>
              <a:t>INDIA MUTUAL FUNDS · BEST PICKS · 2025-26</a:t>
            </a:r>
            <a:endParaRPr lang="en-US" sz="900" dirty="0"/>
          </a:p>
        </p:txBody>
      </p:sp>
      <p:sp>
        <p:nvSpPr>
          <p:cNvPr id="185" name="Text 183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B8CC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1–2 Funds</a:t>
            </a:r>
            <a:endParaRPr lang="en-US" sz="3400" dirty="0"/>
          </a:p>
        </p:txBody>
      </p:sp>
      <p:sp>
        <p:nvSpPr>
          <p:cNvPr id="186" name="Text 184"/>
          <p:cNvSpPr/>
          <p:nvPr/>
        </p:nvSpPr>
        <p:spPr>
          <a:xfrm>
            <a:off x="457200" y="1536192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Category</a:t>
            </a:r>
            <a:endParaRPr lang="en-US" sz="5800" dirty="0"/>
          </a:p>
        </p:txBody>
      </p:sp>
      <p:sp>
        <p:nvSpPr>
          <p:cNvPr id="187" name="Text 185"/>
          <p:cNvSpPr/>
          <p:nvPr/>
        </p:nvSpPr>
        <p:spPr>
          <a:xfrm>
            <a:off x="457200" y="24871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Handpicked for 10+ Year Track Record · Best Risk-Adjusted Returns</a:t>
            </a:r>
            <a:endParaRPr lang="en-US" sz="1400" dirty="0"/>
          </a:p>
        </p:txBody>
      </p:sp>
      <p:sp>
        <p:nvSpPr>
          <p:cNvPr id="188" name="Text 186"/>
          <p:cNvSpPr/>
          <p:nvPr/>
        </p:nvSpPr>
        <p:spPr>
          <a:xfrm>
            <a:off x="457200" y="2907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 · Mid Cap · Small Cap · Flexi Cap · Multi Asset</a:t>
            </a:r>
            <a:endParaRPr lang="en-US" sz="1300" dirty="0"/>
          </a:p>
        </p:txBody>
      </p:sp>
      <p:sp>
        <p:nvSpPr>
          <p:cNvPr id="189" name="Shape 187"/>
          <p:cNvSpPr/>
          <p:nvPr/>
        </p:nvSpPr>
        <p:spPr>
          <a:xfrm>
            <a:off x="457200" y="3493008"/>
            <a:ext cx="1572768" cy="1325880"/>
          </a:xfrm>
          <a:prstGeom prst="rect">
            <a:avLst/>
          </a:prstGeom>
          <a:solidFill>
            <a:srgbClr val="162B42"/>
          </a:solidFill>
          <a:ln w="12700">
            <a:solidFill>
              <a:srgbClr val="1B4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457200" y="3493008"/>
            <a:ext cx="1572768" cy="256032"/>
          </a:xfrm>
          <a:prstGeom prst="rect">
            <a:avLst/>
          </a:prstGeom>
          <a:solidFill>
            <a:srgbClr val="1B4E8C"/>
          </a:solidFill>
          <a:ln w="12700">
            <a:solidFill>
              <a:srgbClr val="1B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Text 189"/>
          <p:cNvSpPr/>
          <p:nvPr/>
        </p:nvSpPr>
        <p:spPr>
          <a:xfrm>
            <a:off x="457200" y="34930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Large Cap</a:t>
            </a:r>
            <a:endParaRPr lang="en-US" sz="800" dirty="0"/>
          </a:p>
        </p:txBody>
      </p:sp>
      <p:sp>
        <p:nvSpPr>
          <p:cNvPr id="192" name="Text 190"/>
          <p:cNvSpPr/>
          <p:nvPr/>
        </p:nvSpPr>
        <p:spPr>
          <a:xfrm>
            <a:off x="457200" y="3767328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Nippon India</a:t>
            </a:r>
            <a:endParaRPr lang="en-US" sz="1100" dirty="0"/>
          </a:p>
        </p:txBody>
      </p:sp>
      <p:sp>
        <p:nvSpPr>
          <p:cNvPr id="193" name="Text 191"/>
          <p:cNvSpPr/>
          <p:nvPr/>
        </p:nvSpPr>
        <p:spPr>
          <a:xfrm>
            <a:off x="457200" y="4645152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Pick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2148840" y="3493008"/>
            <a:ext cx="1572768" cy="1325880"/>
          </a:xfrm>
          <a:prstGeom prst="rect">
            <a:avLst/>
          </a:prstGeom>
          <a:solidFill>
            <a:srgbClr val="162B42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2148840" y="3493008"/>
            <a:ext cx="1572768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Text 194"/>
          <p:cNvSpPr/>
          <p:nvPr/>
        </p:nvSpPr>
        <p:spPr>
          <a:xfrm>
            <a:off x="2148840" y="34930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Mid Cap</a:t>
            </a:r>
            <a:endParaRPr lang="en-US" sz="800" dirty="0"/>
          </a:p>
        </p:txBody>
      </p:sp>
      <p:sp>
        <p:nvSpPr>
          <p:cNvPr id="197" name="Text 195"/>
          <p:cNvSpPr/>
          <p:nvPr/>
        </p:nvSpPr>
        <p:spPr>
          <a:xfrm>
            <a:off x="2148840" y="3767328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Motilal + HDFC</a:t>
            </a:r>
            <a:endParaRPr lang="en-US" sz="1100" dirty="0"/>
          </a:p>
        </p:txBody>
      </p:sp>
      <p:sp>
        <p:nvSpPr>
          <p:cNvPr id="198" name="Text 196"/>
          <p:cNvSpPr/>
          <p:nvPr/>
        </p:nvSpPr>
        <p:spPr>
          <a:xfrm>
            <a:off x="2148840" y="4645152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Pick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>
            <a:off x="3840480" y="3493008"/>
            <a:ext cx="1572768" cy="1325880"/>
          </a:xfrm>
          <a:prstGeom prst="rect">
            <a:avLst/>
          </a:prstGeom>
          <a:solidFill>
            <a:srgbClr val="162B42"/>
          </a:solidFill>
          <a:ln w="12700">
            <a:solidFill>
              <a:srgbClr val="C05A1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3840480" y="3493008"/>
            <a:ext cx="1572768" cy="256032"/>
          </a:xfrm>
          <a:prstGeom prst="rect">
            <a:avLst/>
          </a:prstGeom>
          <a:solidFill>
            <a:srgbClr val="C05A10"/>
          </a:solidFill>
          <a:ln w="12700">
            <a:solidFill>
              <a:srgbClr val="C05A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Text 199"/>
          <p:cNvSpPr/>
          <p:nvPr/>
        </p:nvSpPr>
        <p:spPr>
          <a:xfrm>
            <a:off x="3840480" y="34930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Small Cap</a:t>
            </a:r>
            <a:endParaRPr lang="en-US" sz="800" dirty="0"/>
          </a:p>
        </p:txBody>
      </p:sp>
      <p:sp>
        <p:nvSpPr>
          <p:cNvPr id="202" name="Text 200"/>
          <p:cNvSpPr/>
          <p:nvPr/>
        </p:nvSpPr>
        <p:spPr>
          <a:xfrm>
            <a:off x="3840480" y="3767328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Nippon + SBI</a:t>
            </a:r>
            <a:endParaRPr lang="en-US" sz="1100" dirty="0"/>
          </a:p>
        </p:txBody>
      </p:sp>
      <p:sp>
        <p:nvSpPr>
          <p:cNvPr id="203" name="Text 201"/>
          <p:cNvSpPr/>
          <p:nvPr/>
        </p:nvSpPr>
        <p:spPr>
          <a:xfrm>
            <a:off x="3840480" y="4645152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0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Pick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5532120" y="3493008"/>
            <a:ext cx="1572768" cy="1325880"/>
          </a:xfrm>
          <a:prstGeom prst="rect">
            <a:avLst/>
          </a:prstGeom>
          <a:solidFill>
            <a:srgbClr val="162B42"/>
          </a:solidFill>
          <a:ln w="12700">
            <a:solidFill>
              <a:srgbClr val="5C2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5532120" y="3493008"/>
            <a:ext cx="1572768" cy="256032"/>
          </a:xfrm>
          <a:prstGeom prst="rect">
            <a:avLst/>
          </a:prstGeom>
          <a:solidFill>
            <a:srgbClr val="5C2A8A"/>
          </a:solidFill>
          <a:ln w="12700">
            <a:solidFill>
              <a:srgbClr val="5C2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Text 204"/>
          <p:cNvSpPr/>
          <p:nvPr/>
        </p:nvSpPr>
        <p:spPr>
          <a:xfrm>
            <a:off x="5532120" y="34930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Flexi Cap</a:t>
            </a:r>
            <a:endParaRPr lang="en-US" sz="800" dirty="0"/>
          </a:p>
        </p:txBody>
      </p:sp>
      <p:sp>
        <p:nvSpPr>
          <p:cNvPr id="207" name="Text 205"/>
          <p:cNvSpPr/>
          <p:nvPr/>
        </p:nvSpPr>
        <p:spPr>
          <a:xfrm>
            <a:off x="5532120" y="3767328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PPFAS + HDFC</a:t>
            </a:r>
            <a:endParaRPr lang="en-US" sz="1100" dirty="0"/>
          </a:p>
        </p:txBody>
      </p:sp>
      <p:sp>
        <p:nvSpPr>
          <p:cNvPr id="208" name="Text 206"/>
          <p:cNvSpPr/>
          <p:nvPr/>
        </p:nvSpPr>
        <p:spPr>
          <a:xfrm>
            <a:off x="5532120" y="4645152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Pick</a:t>
            </a:r>
            <a:endParaRPr lang="en-US" sz="750" dirty="0"/>
          </a:p>
        </p:txBody>
      </p:sp>
      <p:sp>
        <p:nvSpPr>
          <p:cNvPr id="209" name="Shape 207"/>
          <p:cNvSpPr/>
          <p:nvPr/>
        </p:nvSpPr>
        <p:spPr>
          <a:xfrm>
            <a:off x="7223760" y="3493008"/>
            <a:ext cx="1572768" cy="1325880"/>
          </a:xfrm>
          <a:prstGeom prst="rect">
            <a:avLst/>
          </a:prstGeom>
          <a:solidFill>
            <a:srgbClr val="162B42"/>
          </a:solidFill>
          <a:ln w="12700">
            <a:solidFill>
              <a:srgbClr val="1E7A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7223760" y="3493008"/>
            <a:ext cx="1572768" cy="256032"/>
          </a:xfrm>
          <a:prstGeom prst="rect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Text 209"/>
          <p:cNvSpPr/>
          <p:nvPr/>
        </p:nvSpPr>
        <p:spPr>
          <a:xfrm>
            <a:off x="7223760" y="34930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Multi Asset</a:t>
            </a:r>
            <a:endParaRPr lang="en-US" sz="800" dirty="0"/>
          </a:p>
        </p:txBody>
      </p:sp>
      <p:sp>
        <p:nvSpPr>
          <p:cNvPr id="212" name="Text 210"/>
          <p:cNvSpPr/>
          <p:nvPr/>
        </p:nvSpPr>
        <p:spPr>
          <a:xfrm>
            <a:off x="7223760" y="3767328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ICICI Pru</a:t>
            </a:r>
            <a:endParaRPr lang="en-US" sz="1100" dirty="0"/>
          </a:p>
        </p:txBody>
      </p:sp>
      <p:sp>
        <p:nvSpPr>
          <p:cNvPr id="213" name="Text 211"/>
          <p:cNvSpPr/>
          <p:nvPr/>
        </p:nvSpPr>
        <p:spPr>
          <a:xfrm>
            <a:off x="7223760" y="4645152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Pick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1B4E8C"/>
          </a:solidFill>
          <a:ln w="12700">
            <a:solidFill>
              <a:srgbClr val="1B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B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Cap — Best Pick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457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in Nifty 100 · Benchmark: Nifty 100 TRI · Risk: Moderate · Ideal for: Conservative long-term equity investors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206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914400"/>
          </a:xfrm>
          <a:prstGeom prst="rect">
            <a:avLst/>
          </a:prstGeom>
          <a:solidFill>
            <a:srgbClr val="1B4E8C"/>
          </a:solidFill>
          <a:ln w="12700">
            <a:solidFill>
              <a:srgbClr val="1B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932688"/>
            <a:ext cx="914400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932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★ Category #1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914400"/>
            <a:ext cx="2944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Nippon India Large Cap Fund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" y="14081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4D0"/>
                </a:solidFill>
              </a:rPr>
              <a:t>★★★★★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140817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Sharpe Ratio + Alpha in category. 18-year proven track record.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" y="1810512"/>
            <a:ext cx="1292352" cy="804672"/>
          </a:xfrm>
          <a:prstGeom prst="rect">
            <a:avLst/>
          </a:prstGeom>
          <a:solidFill>
            <a:srgbClr val="162B42"/>
          </a:solidFill>
          <a:ln w="12700">
            <a:solidFill>
              <a:srgbClr val="2A3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8912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10Y CAGR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731264" y="1810512"/>
            <a:ext cx="1292352" cy="804672"/>
          </a:xfrm>
          <a:prstGeom prst="rect">
            <a:avLst/>
          </a:prstGeom>
          <a:solidFill>
            <a:srgbClr val="1B4E8C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31264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4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1264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023616" y="1810512"/>
            <a:ext cx="1292352" cy="804672"/>
          </a:xfrm>
          <a:prstGeom prst="rect">
            <a:avLst/>
          </a:prstGeom>
          <a:solidFill>
            <a:srgbClr val="162B42"/>
          </a:solidFill>
          <a:ln w="12700">
            <a:solidFill>
              <a:srgbClr val="2A3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023616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6.97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023616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761488"/>
            <a:ext cx="4206240" cy="207818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761488"/>
            <a:ext cx="54864" cy="207818"/>
          </a:xfrm>
          <a:prstGeom prst="rect">
            <a:avLst/>
          </a:prstGeom>
          <a:solidFill>
            <a:srgbClr val="1B4E8C">
              <a:alpha val="50000"/>
            </a:srgbClr>
          </a:solidFill>
          <a:ln w="12700">
            <a:solidFill>
              <a:srgbClr val="1B4E8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2761488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Year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51253" y="2761488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 — 18 years of history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969306"/>
            <a:ext cx="54864" cy="207818"/>
          </a:xfrm>
          <a:prstGeom prst="rect">
            <a:avLst/>
          </a:prstGeom>
          <a:solidFill>
            <a:srgbClr val="1B4E8C">
              <a:alpha val="50000"/>
            </a:srgbClr>
          </a:solidFill>
          <a:ln w="12700">
            <a:solidFill>
              <a:srgbClr val="1B4E8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" y="2969306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51253" y="2969306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₹41,764 Crore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177124"/>
            <a:ext cx="4206240" cy="207818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177124"/>
            <a:ext cx="54864" cy="207818"/>
          </a:xfrm>
          <a:prstGeom prst="rect">
            <a:avLst/>
          </a:prstGeom>
          <a:solidFill>
            <a:srgbClr val="1B4E8C">
              <a:alpha val="50000"/>
            </a:srgbClr>
          </a:solidFill>
          <a:ln w="12700">
            <a:solidFill>
              <a:srgbClr val="1B4E8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3177124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 CAGR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51253" y="3177124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384943"/>
            <a:ext cx="54864" cy="207818"/>
          </a:xfrm>
          <a:prstGeom prst="rect">
            <a:avLst/>
          </a:prstGeom>
          <a:solidFill>
            <a:srgbClr val="1B4E8C">
              <a:alpha val="50000"/>
            </a:srgbClr>
          </a:solidFill>
          <a:ln w="12700">
            <a:solidFill>
              <a:srgbClr val="1B4E8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4048" y="3384943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 CAGR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51253" y="3384943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592761"/>
            <a:ext cx="4206240" cy="207818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3592761"/>
            <a:ext cx="54864" cy="207818"/>
          </a:xfrm>
          <a:prstGeom prst="rect">
            <a:avLst/>
          </a:prstGeom>
          <a:solidFill>
            <a:srgbClr val="1B4E8C">
              <a:alpha val="50000"/>
            </a:srgbClr>
          </a:solidFill>
          <a:ln w="12700">
            <a:solidFill>
              <a:srgbClr val="1B4E8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4048" y="3592761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10Y CAGR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51253" y="3592761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3800579"/>
            <a:ext cx="54864" cy="207818"/>
          </a:xfrm>
          <a:prstGeom prst="rect">
            <a:avLst/>
          </a:prstGeom>
          <a:solidFill>
            <a:srgbClr val="1B4E8C">
              <a:alpha val="50000"/>
            </a:srgbClr>
          </a:solidFill>
          <a:ln w="12700">
            <a:solidFill>
              <a:srgbClr val="1B4E8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84048" y="3800579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51253" y="3800579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 — market-aligned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008397"/>
            <a:ext cx="4206240" cy="207818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74320" y="4008397"/>
            <a:ext cx="54864" cy="207818"/>
          </a:xfrm>
          <a:prstGeom prst="rect">
            <a:avLst/>
          </a:prstGeom>
          <a:solidFill>
            <a:srgbClr val="1B4E8C">
              <a:alpha val="50000"/>
            </a:srgbClr>
          </a:solidFill>
          <a:ln w="12700">
            <a:solidFill>
              <a:srgbClr val="1B4E8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84048" y="4008397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251253" y="4008397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0.76%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4216215"/>
            <a:ext cx="54864" cy="207818"/>
          </a:xfrm>
          <a:prstGeom prst="rect">
            <a:avLst/>
          </a:prstGeom>
          <a:solidFill>
            <a:srgbClr val="1B4E8C">
              <a:alpha val="50000"/>
            </a:srgbClr>
          </a:solidFill>
          <a:ln w="12700">
            <a:solidFill>
              <a:srgbClr val="1B4E8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4048" y="4216215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251253" y="4216215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Large Cap 100 TRI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4424033"/>
            <a:ext cx="4206240" cy="207818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74320" y="4424033"/>
            <a:ext cx="54864" cy="207818"/>
          </a:xfrm>
          <a:prstGeom prst="rect">
            <a:avLst/>
          </a:prstGeom>
          <a:solidFill>
            <a:srgbClr val="1B4E8C">
              <a:alpha val="50000"/>
            </a:srgbClr>
          </a:solidFill>
          <a:ln w="12700">
            <a:solidFill>
              <a:srgbClr val="1B4E8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84048" y="4424033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SIP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251253" y="4424033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₹100/month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4631852"/>
            <a:ext cx="54864" cy="207818"/>
          </a:xfrm>
          <a:prstGeom prst="rect">
            <a:avLst/>
          </a:prstGeom>
          <a:solidFill>
            <a:srgbClr val="1B4E8C">
              <a:alpha val="50000"/>
            </a:srgbClr>
          </a:solidFill>
          <a:ln w="12700">
            <a:solidFill>
              <a:srgbClr val="1B4E8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84048" y="4631852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251253" y="4631852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GARP (Growth at Reasonable Price)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74320" y="4839670"/>
            <a:ext cx="4206240" cy="207818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74320" y="4839670"/>
            <a:ext cx="54864" cy="207818"/>
          </a:xfrm>
          <a:prstGeom prst="rect">
            <a:avLst/>
          </a:prstGeom>
          <a:solidFill>
            <a:srgbClr val="1B4E8C">
              <a:alpha val="50000"/>
            </a:srgbClr>
          </a:solidFill>
          <a:ln w="12700">
            <a:solidFill>
              <a:srgbClr val="1B4E8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84048" y="4839670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251253" y="4839670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(SEBI)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663440" y="841248"/>
            <a:ext cx="4206240" cy="4206240"/>
          </a:xfrm>
          <a:prstGeom prst="rect">
            <a:avLst/>
          </a:prstGeom>
          <a:solidFill>
            <a:srgbClr val="162B42"/>
          </a:solidFill>
          <a:ln w="12700">
            <a:solidFill>
              <a:srgbClr val="1B4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One?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4754880" y="1600200"/>
            <a:ext cx="256032" cy="256032"/>
          </a:xfrm>
          <a:prstGeom prst="ellipse">
            <a:avLst/>
          </a:prstGeom>
          <a:solidFill>
            <a:srgbClr val="1B4E8C"/>
          </a:solidFill>
          <a:ln w="12700">
            <a:solidFill>
              <a:srgbClr val="1B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75488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084064" y="15819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Sharpe ratio (1.06) in the category — best return per unit of risk.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754880" y="2258568"/>
            <a:ext cx="256032" cy="256032"/>
          </a:xfrm>
          <a:prstGeom prst="ellipse">
            <a:avLst/>
          </a:prstGeom>
          <a:solidFill>
            <a:srgbClr val="1B4E8C"/>
          </a:solidFill>
          <a:ln w="12700">
            <a:solidFill>
              <a:srgbClr val="1B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754880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084064" y="22402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of 6.97 means it beat benchmark by ~7% annually — exceptional for large caps.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754880" y="2916936"/>
            <a:ext cx="256032" cy="256032"/>
          </a:xfrm>
          <a:prstGeom prst="ellipse">
            <a:avLst/>
          </a:prstGeom>
          <a:solidFill>
            <a:srgbClr val="1B4E8C"/>
          </a:solidFill>
          <a:ln w="12700">
            <a:solidFill>
              <a:srgbClr val="1B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754880" y="2916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084064" y="289864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18-year track record across multiple bull &amp; bear cycles.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754880" y="3575304"/>
            <a:ext cx="256032" cy="256032"/>
          </a:xfrm>
          <a:prstGeom prst="ellipse">
            <a:avLst/>
          </a:prstGeom>
          <a:solidFill>
            <a:srgbClr val="1B4E8C"/>
          </a:solidFill>
          <a:ln w="12700">
            <a:solidFill>
              <a:srgbClr val="1B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754880" y="3575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084064" y="355701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top quartile performer — not a one-year wonder.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4754880" y="4233672"/>
            <a:ext cx="256032" cy="256032"/>
          </a:xfrm>
          <a:prstGeom prst="ellipse">
            <a:avLst/>
          </a:prstGeom>
          <a:solidFill>
            <a:srgbClr val="1B4E8C"/>
          </a:solidFill>
          <a:ln w="12700">
            <a:solidFill>
              <a:srgbClr val="1B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754880" y="4233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084064" y="421538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Second-largest large cap fund (₹41,764 Cr AUM) — high liquidity &amp; stability.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 Cap — Top 2 Picks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457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65%+ in companies ranked 101–250 by market cap · Benchmark: Nifty Midcap 150 TRI · Risk: Moderately High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206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932688"/>
            <a:ext cx="914400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932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#1 — Highest Return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914400"/>
            <a:ext cx="2944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Motilal Oswal Midcap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" y="14081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4D0"/>
                </a:solidFill>
              </a:rPr>
              <a:t>★★★★★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140817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10Y CAGR (21.2%) + Sharpe 1.12. QGLP framework.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" y="1810512"/>
            <a:ext cx="1292352" cy="804672"/>
          </a:xfrm>
          <a:prstGeom prst="rect">
            <a:avLst/>
          </a:prstGeom>
          <a:solidFill>
            <a:srgbClr val="162B42"/>
          </a:solidFill>
          <a:ln w="12700">
            <a:solidFill>
              <a:srgbClr val="2A3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21.2%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8912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10Y CAGR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731264" y="1810512"/>
            <a:ext cx="1292352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31264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4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1264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023616" y="1810512"/>
            <a:ext cx="1292352" cy="804672"/>
          </a:xfrm>
          <a:prstGeom prst="rect">
            <a:avLst/>
          </a:prstGeom>
          <a:solidFill>
            <a:srgbClr val="162B42"/>
          </a:solidFill>
          <a:ln w="12700">
            <a:solidFill>
              <a:srgbClr val="2A3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023616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023616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761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761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2761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Year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51253" y="2761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— 11 years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015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" y="3015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51253" y="3015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₹38,003 Crore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269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269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3269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 CAGR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51253" y="3269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523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4048" y="3523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 CAGR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51253" y="3523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777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3777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4048" y="3777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51253" y="3777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 — slightly aggressive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031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84048" y="4031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51253" y="4031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0.72% (Low)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285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74320" y="4285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84048" y="4285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251253" y="4285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QGLP (Quality, Growth, Longevity, Price)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4539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4048" y="4539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Holdings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251253" y="4539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Coforge, Kalyan Jewellers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4793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74320" y="4793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84048" y="4793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SIP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251253" y="4793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₹500/month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63440" y="841248"/>
            <a:ext cx="4206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663440" y="841248"/>
            <a:ext cx="420624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863840" y="932688"/>
            <a:ext cx="914400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863840" y="932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#2 — Most Trusted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28032" y="914400"/>
            <a:ext cx="2944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HDFC Mid Cap Opportunities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828032" y="14081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4D0"/>
                </a:solidFill>
              </a:rPr>
              <a:t>★★★★★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989320" y="140817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mid cap fund. 18-year track record. Consistent performer.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28032" y="1810512"/>
            <a:ext cx="1292352" cy="804672"/>
          </a:xfrm>
          <a:prstGeom prst="rect">
            <a:avLst/>
          </a:prstGeom>
          <a:solidFill>
            <a:srgbClr val="162B42"/>
          </a:solidFill>
          <a:ln w="12700">
            <a:solidFill>
              <a:srgbClr val="2A3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828032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18.5%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4828032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10Y CAGR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120384" y="1810512"/>
            <a:ext cx="1292352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120384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4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1.05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6120384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412736" y="1810512"/>
            <a:ext cx="1292352" cy="804672"/>
          </a:xfrm>
          <a:prstGeom prst="rect">
            <a:avLst/>
          </a:prstGeom>
          <a:solidFill>
            <a:srgbClr val="162B42"/>
          </a:solidFill>
          <a:ln w="12700">
            <a:solidFill>
              <a:srgbClr val="2A3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412736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5.5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7412736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63440" y="2761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663440" y="2761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773168" y="2761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Year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640373" y="2761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 — 18 years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663440" y="3015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773168" y="3015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640373" y="3015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₹75,000+ Crore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663440" y="3269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4663440" y="3269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773168" y="3269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 CAGR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640373" y="3269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663440" y="3523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773168" y="3523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 CAGR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640373" y="3523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663440" y="3777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4663440" y="3777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773168" y="3777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640373" y="3777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 — market-aligned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663440" y="4031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4773168" y="4031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640373" y="4031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0.78%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663440" y="4285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663440" y="4285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4773168" y="4285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640373" y="4285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mid-caps, disciplined exits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4663440" y="4539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4773168" y="4539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Sectors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640373" y="4539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Capital Goods, Healthcare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4663440" y="4793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4663440" y="4793488"/>
            <a:ext cx="54864" cy="254000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4773168" y="4793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SIP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6640373" y="4793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₹100/month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C05A10"/>
          </a:solidFill>
          <a:ln w="12700">
            <a:solidFill>
              <a:srgbClr val="C05A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C05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Cap — Top 2 Picks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457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65%+ in companies ranked 251+ · Benchmark: Nifty Smallcap 250 TRI · Risk: High · Max drawdown: 40–60% in bear markets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206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914400"/>
          </a:xfrm>
          <a:prstGeom prst="rect">
            <a:avLst/>
          </a:prstGeom>
          <a:solidFill>
            <a:srgbClr val="C05A10"/>
          </a:solidFill>
          <a:ln w="12700">
            <a:solidFill>
              <a:srgbClr val="C05A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932688"/>
            <a:ext cx="914400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932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#1 — Best 10Y Return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914400"/>
            <a:ext cx="2944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Nippon India Small Cap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" y="14081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4D0"/>
                </a:solidFill>
              </a:rPr>
              <a:t>★★★★★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140817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10Y CAGR (23.5%) in category. Strong alpha of 8.5.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" y="1810512"/>
            <a:ext cx="1292352" cy="804672"/>
          </a:xfrm>
          <a:prstGeom prst="rect">
            <a:avLst/>
          </a:prstGeom>
          <a:solidFill>
            <a:srgbClr val="162B42"/>
          </a:solidFill>
          <a:ln w="12700">
            <a:solidFill>
              <a:srgbClr val="2A3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8912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10Y CAGR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731264" y="1810512"/>
            <a:ext cx="1292352" cy="804672"/>
          </a:xfrm>
          <a:prstGeom prst="rect">
            <a:avLst/>
          </a:prstGeom>
          <a:solidFill>
            <a:srgbClr val="C05A10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31264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4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1264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023616" y="1810512"/>
            <a:ext cx="1292352" cy="804672"/>
          </a:xfrm>
          <a:prstGeom prst="rect">
            <a:avLst/>
          </a:prstGeom>
          <a:solidFill>
            <a:srgbClr val="162B42"/>
          </a:solidFill>
          <a:ln w="12700">
            <a:solidFill>
              <a:srgbClr val="2A3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023616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023616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761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761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2761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Year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51253" y="2761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— 15 years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015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" y="3015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51253" y="3015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₹58,028 Crore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269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269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3269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 CAGR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51253" y="3269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523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4048" y="3523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 CAGR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51253" y="3523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32.0%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777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3777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4048" y="3777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51253" y="3777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 — slightly aggressive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031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84048" y="4031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51253" y="4031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0.67%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285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74320" y="4285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84048" y="4285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Sectors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251253" y="4285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Goods, Healthcare, Chemicals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4539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4048" y="4539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251253" y="4539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450+ stocks (well-diversified)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4793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74320" y="4793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84048" y="4793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SIP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251253" y="4793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₹100/month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63440" y="841248"/>
            <a:ext cx="4206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663440" y="841248"/>
            <a:ext cx="4206240" cy="914400"/>
          </a:xfrm>
          <a:prstGeom prst="rect">
            <a:avLst/>
          </a:prstGeom>
          <a:solidFill>
            <a:srgbClr val="C05A10"/>
          </a:solidFill>
          <a:ln w="12700">
            <a:solidFill>
              <a:srgbClr val="C05A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863840" y="932688"/>
            <a:ext cx="914400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863840" y="932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#2 — Most Consistent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28032" y="914400"/>
            <a:ext cx="2944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SBI Small Cap Fund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828032" y="14081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4D0"/>
                </a:solidFill>
              </a:rPr>
              <a:t>★★★★★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989320" y="140817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beta (0.98), focused quality portfolio. Less volatile than peers.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28032" y="1810512"/>
            <a:ext cx="1292352" cy="804672"/>
          </a:xfrm>
          <a:prstGeom prst="rect">
            <a:avLst/>
          </a:prstGeom>
          <a:solidFill>
            <a:srgbClr val="162B42"/>
          </a:solidFill>
          <a:ln w="12700">
            <a:solidFill>
              <a:srgbClr val="2A3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828032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22.6%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4828032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10Y CAGR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120384" y="1810512"/>
            <a:ext cx="1292352" cy="804672"/>
          </a:xfrm>
          <a:prstGeom prst="rect">
            <a:avLst/>
          </a:prstGeom>
          <a:solidFill>
            <a:srgbClr val="C05A10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120384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4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6120384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412736" y="1810512"/>
            <a:ext cx="1292352" cy="804672"/>
          </a:xfrm>
          <a:prstGeom prst="rect">
            <a:avLst/>
          </a:prstGeom>
          <a:solidFill>
            <a:srgbClr val="162B42"/>
          </a:solidFill>
          <a:ln w="12700">
            <a:solidFill>
              <a:srgbClr val="2A3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412736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7412736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63440" y="2761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663440" y="2761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773168" y="2761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Year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640373" y="2761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 — 16 years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663440" y="3015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773168" y="3015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640373" y="3015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₹31,790 Crore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663440" y="3269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4663440" y="3269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773168" y="3269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 CAGR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640373" y="3269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663440" y="3523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773168" y="3523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 CAGR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640373" y="3523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28.5%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663440" y="3777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4663440" y="3777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773168" y="3777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640373" y="3777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 — controlled downside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663440" y="4031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4773168" y="4031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640373" y="4031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0.64%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663440" y="4285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663440" y="4285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4773168" y="4285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640373" y="4285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Quality-focused, concentrated picks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4663440" y="4539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4773168" y="4539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Sectors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640373" y="4539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Capital Goods, Chemicals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4663440" y="4793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4663440" y="4793488"/>
            <a:ext cx="54864" cy="254000"/>
          </a:xfrm>
          <a:prstGeom prst="rect">
            <a:avLst/>
          </a:prstGeom>
          <a:solidFill>
            <a:srgbClr val="C05A10">
              <a:alpha val="50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4773168" y="4793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SIP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6640373" y="4793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₹500/month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5C2A8A"/>
          </a:solidFill>
          <a:ln w="12700">
            <a:solidFill>
              <a:srgbClr val="5C2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5C2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Flexi Cap — Top 2 Picks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457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allocation across caps · Benchmark: Nifty 500 TRI · Fund manager-driven, all-weather single-fund equity solution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206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914400"/>
          </a:xfrm>
          <a:prstGeom prst="rect">
            <a:avLst/>
          </a:prstGeom>
          <a:solidFill>
            <a:srgbClr val="5C2A8A"/>
          </a:solidFill>
          <a:ln w="12700">
            <a:solidFill>
              <a:srgbClr val="5C2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932688"/>
            <a:ext cx="914400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932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#1 — Best Sharpe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914400"/>
            <a:ext cx="2944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Parag Parikh Flexi Cap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" y="14081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4D0"/>
                </a:solidFill>
              </a:rPr>
              <a:t>★★★★★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140817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Sharpe (1.44) in category. Global stocks + domestic equity. Lowest drawdown.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" y="1810512"/>
            <a:ext cx="1292352" cy="804672"/>
          </a:xfrm>
          <a:prstGeom prst="rect">
            <a:avLst/>
          </a:prstGeom>
          <a:solidFill>
            <a:srgbClr val="162B42"/>
          </a:solidFill>
          <a:ln w="12700">
            <a:solidFill>
              <a:srgbClr val="2A3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8912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10Y CAGR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731264" y="1810512"/>
            <a:ext cx="1292352" cy="804672"/>
          </a:xfrm>
          <a:prstGeom prst="rect">
            <a:avLst/>
          </a:prstGeom>
          <a:solidFill>
            <a:srgbClr val="5C2A8A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31264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4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1264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023616" y="1810512"/>
            <a:ext cx="1292352" cy="804672"/>
          </a:xfrm>
          <a:prstGeom prst="rect">
            <a:avLst/>
          </a:prstGeom>
          <a:solidFill>
            <a:srgbClr val="162B42"/>
          </a:solidFill>
          <a:ln w="12700">
            <a:solidFill>
              <a:srgbClr val="2A3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023616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023616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 CAGR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761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761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2761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Year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51253" y="2761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— 12 years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015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" y="3015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51253" y="3015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₹1,00,000+ Crore (Largest!)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269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269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3269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 CAGR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51253" y="3269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523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4048" y="3523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51253" y="3523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in global stocks (unique)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777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3777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4048" y="3777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Buffer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51253" y="3777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held for dips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031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84048" y="4031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51253" y="4031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0.66%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285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74320" y="4285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84048" y="4285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251253" y="4285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Quality, long-term holding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4539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4048" y="4539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10Y SIP XIRR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251253" y="4539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20%+ (exceptional)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4793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74320" y="4793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84048" y="4793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SIP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251253" y="4793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₹1,000/month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63440" y="841248"/>
            <a:ext cx="4206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663440" y="841248"/>
            <a:ext cx="4206240" cy="914400"/>
          </a:xfrm>
          <a:prstGeom prst="rect">
            <a:avLst/>
          </a:prstGeom>
          <a:solidFill>
            <a:srgbClr val="5C2A8A"/>
          </a:solidFill>
          <a:ln w="12700">
            <a:solidFill>
              <a:srgbClr val="5C2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863840" y="932688"/>
            <a:ext cx="914400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863840" y="932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#2 — Longest Track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28032" y="914400"/>
            <a:ext cx="2944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HDFC Flexi Cap Fund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828032" y="14081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4D0"/>
                </a:solidFill>
              </a:rPr>
              <a:t>★★★★★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989320" y="140817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30-year history. Largest established flexi cap. Consistent compounder.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28032" y="1810512"/>
            <a:ext cx="1292352" cy="804672"/>
          </a:xfrm>
          <a:prstGeom prst="rect">
            <a:avLst/>
          </a:prstGeom>
          <a:solidFill>
            <a:srgbClr val="162B42"/>
          </a:solidFill>
          <a:ln w="12700">
            <a:solidFill>
              <a:srgbClr val="2A3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828032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18.5%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4828032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10Y CAGR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120384" y="1810512"/>
            <a:ext cx="1292352" cy="804672"/>
          </a:xfrm>
          <a:prstGeom prst="rect">
            <a:avLst/>
          </a:prstGeom>
          <a:solidFill>
            <a:srgbClr val="5C2A8A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120384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4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1.10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6120384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412736" y="1810512"/>
            <a:ext cx="1292352" cy="804672"/>
          </a:xfrm>
          <a:prstGeom prst="rect">
            <a:avLst/>
          </a:prstGeom>
          <a:solidFill>
            <a:srgbClr val="162B42"/>
          </a:solidFill>
          <a:ln w="12700">
            <a:solidFill>
              <a:srgbClr val="2A3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412736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28.2%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7412736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 CAGR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63440" y="2761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663440" y="2761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773168" y="2761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Year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640373" y="2761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 — 30 years (oldest!)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663440" y="3015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773168" y="3015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640373" y="3015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₹65,000+ Crore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663440" y="3269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4663440" y="3269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773168" y="3269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 CAGR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640373" y="3269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663440" y="3523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773168" y="3523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5Y CAGR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640373" y="3523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28.17% (historical high)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663440" y="3777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4663440" y="3777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773168" y="3777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 Bias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640373" y="3777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in large caps (stable)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663440" y="4031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4773168" y="4031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640373" y="4031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0.80%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663440" y="4285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663440" y="4285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4773168" y="4285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640373" y="4285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growth, active allocation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4663440" y="4539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4773168" y="4539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Manager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640373" y="4539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Roshi Jain (experienced)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4663440" y="4793488"/>
            <a:ext cx="4206240" cy="254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4663440" y="4793488"/>
            <a:ext cx="54864" cy="254000"/>
          </a:xfrm>
          <a:prstGeom prst="rect">
            <a:avLst/>
          </a:prstGeom>
          <a:solidFill>
            <a:srgbClr val="5C2A8A">
              <a:alpha val="50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4773168" y="4793488"/>
            <a:ext cx="1892808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SIP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6640373" y="4793488"/>
            <a:ext cx="2187245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₹100/month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1E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 Asset — Best Pick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457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+ Debt + Gold + Commodities · SEBI: min 10% in 3 asset classes · Lowest drawdown · Best for moderate risk profiles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206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914400"/>
          </a:xfrm>
          <a:prstGeom prst="rect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932688"/>
            <a:ext cx="914400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932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★ Category #1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914400"/>
            <a:ext cx="2944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ICICI Prudential Multi Asset Fund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" y="14081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4D0"/>
                </a:solidFill>
              </a:rPr>
              <a:t>★★★★★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140817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risk-adjusted returns in category. Largest AUM. 23-year track record.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" y="1810512"/>
            <a:ext cx="1292352" cy="804672"/>
          </a:xfrm>
          <a:prstGeom prst="rect">
            <a:avLst/>
          </a:prstGeom>
          <a:solidFill>
            <a:srgbClr val="162B42"/>
          </a:solidFill>
          <a:ln w="12700">
            <a:solidFill>
              <a:srgbClr val="2A3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8912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10Y CAGR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731264" y="1810512"/>
            <a:ext cx="1292352" cy="804672"/>
          </a:xfrm>
          <a:prstGeom prst="rect">
            <a:avLst/>
          </a:prstGeom>
          <a:solidFill>
            <a:srgbClr val="1E7A4C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31264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4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Highest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1264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D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(Category)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023616" y="1810512"/>
            <a:ext cx="1292352" cy="804672"/>
          </a:xfrm>
          <a:prstGeom prst="rect">
            <a:avLst/>
          </a:prstGeom>
          <a:solidFill>
            <a:srgbClr val="162B42"/>
          </a:solidFill>
          <a:ln w="12700">
            <a:solidFill>
              <a:srgbClr val="2A3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023616" y="1847088"/>
            <a:ext cx="129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₹80,768 Cr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023616" y="2267712"/>
            <a:ext cx="129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761488"/>
            <a:ext cx="4206240" cy="207818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761488"/>
            <a:ext cx="54864" cy="207818"/>
          </a:xfrm>
          <a:prstGeom prst="rect">
            <a:avLst/>
          </a:prstGeom>
          <a:solidFill>
            <a:srgbClr val="1E7A4C">
              <a:alpha val="50000"/>
            </a:srgbClr>
          </a:solidFill>
          <a:ln w="12700">
            <a:solidFill>
              <a:srgbClr val="1E7A4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2761488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Year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51253" y="2761488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 — 23 years of history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969306"/>
            <a:ext cx="54864" cy="207818"/>
          </a:xfrm>
          <a:prstGeom prst="rect">
            <a:avLst/>
          </a:prstGeom>
          <a:solidFill>
            <a:srgbClr val="1E7A4C">
              <a:alpha val="50000"/>
            </a:srgbClr>
          </a:solidFill>
          <a:ln w="12700">
            <a:solidFill>
              <a:srgbClr val="1E7A4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" y="2969306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51253" y="2969306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₹80,768 Crore (Largest)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177124"/>
            <a:ext cx="4206240" cy="207818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177124"/>
            <a:ext cx="54864" cy="207818"/>
          </a:xfrm>
          <a:prstGeom prst="rect">
            <a:avLst/>
          </a:prstGeom>
          <a:solidFill>
            <a:srgbClr val="1E7A4C">
              <a:alpha val="50000"/>
            </a:srgbClr>
          </a:solidFill>
          <a:ln w="12700">
            <a:solidFill>
              <a:srgbClr val="1E7A4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3177124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 CAGR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51253" y="3177124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384943"/>
            <a:ext cx="54864" cy="207818"/>
          </a:xfrm>
          <a:prstGeom prst="rect">
            <a:avLst/>
          </a:prstGeom>
          <a:solidFill>
            <a:srgbClr val="1E7A4C">
              <a:alpha val="50000"/>
            </a:srgbClr>
          </a:solidFill>
          <a:ln w="12700">
            <a:solidFill>
              <a:srgbClr val="1E7A4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4048" y="3384943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 CAGR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51253" y="3384943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592761"/>
            <a:ext cx="4206240" cy="207818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3592761"/>
            <a:ext cx="54864" cy="207818"/>
          </a:xfrm>
          <a:prstGeom prst="rect">
            <a:avLst/>
          </a:prstGeom>
          <a:solidFill>
            <a:srgbClr val="1E7A4C">
              <a:alpha val="50000"/>
            </a:srgbClr>
          </a:solidFill>
          <a:ln w="12700">
            <a:solidFill>
              <a:srgbClr val="1E7A4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4048" y="3592761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Allocation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51253" y="3592761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~57% (growth engine)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3800579"/>
            <a:ext cx="54864" cy="207818"/>
          </a:xfrm>
          <a:prstGeom prst="rect">
            <a:avLst/>
          </a:prstGeom>
          <a:solidFill>
            <a:srgbClr val="1E7A4C">
              <a:alpha val="50000"/>
            </a:srgbClr>
          </a:solidFill>
          <a:ln w="12700">
            <a:solidFill>
              <a:srgbClr val="1E7A4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84048" y="3800579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Allocation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51253" y="3800579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~13% (stability buffer)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008397"/>
            <a:ext cx="4206240" cy="207818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74320" y="4008397"/>
            <a:ext cx="54864" cy="207818"/>
          </a:xfrm>
          <a:prstGeom prst="rect">
            <a:avLst/>
          </a:prstGeom>
          <a:solidFill>
            <a:srgbClr val="1E7A4C">
              <a:alpha val="50000"/>
            </a:srgbClr>
          </a:solidFill>
          <a:ln w="12700">
            <a:solidFill>
              <a:srgbClr val="1E7A4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84048" y="4008397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Gold/Commodities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251253" y="4008397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~18% (inflation hedge)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4216215"/>
            <a:ext cx="54864" cy="207818"/>
          </a:xfrm>
          <a:prstGeom prst="rect">
            <a:avLst/>
          </a:prstGeom>
          <a:solidFill>
            <a:srgbClr val="1E7A4C">
              <a:alpha val="50000"/>
            </a:srgbClr>
          </a:solidFill>
          <a:ln w="12700">
            <a:solidFill>
              <a:srgbClr val="1E7A4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4048" y="4216215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251253" y="4216215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0.70%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4424033"/>
            <a:ext cx="4206240" cy="207818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74320" y="4424033"/>
            <a:ext cx="54864" cy="207818"/>
          </a:xfrm>
          <a:prstGeom prst="rect">
            <a:avLst/>
          </a:prstGeom>
          <a:solidFill>
            <a:srgbClr val="1E7A4C">
              <a:alpha val="50000"/>
            </a:srgbClr>
          </a:solidFill>
          <a:ln w="12700">
            <a:solidFill>
              <a:srgbClr val="1E7A4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84048" y="4424033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SIP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251253" y="4424033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₹100/month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4631852"/>
            <a:ext cx="54864" cy="207818"/>
          </a:xfrm>
          <a:prstGeom prst="rect">
            <a:avLst/>
          </a:prstGeom>
          <a:solidFill>
            <a:srgbClr val="1E7A4C">
              <a:alpha val="50000"/>
            </a:srgbClr>
          </a:solidFill>
          <a:ln w="12700">
            <a:solidFill>
              <a:srgbClr val="1E7A4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84048" y="4631852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251253" y="4631852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taxation (&gt;65% equity)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74320" y="4839670"/>
            <a:ext cx="4206240" cy="207818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74320" y="4839670"/>
            <a:ext cx="54864" cy="207818"/>
          </a:xfrm>
          <a:prstGeom prst="rect">
            <a:avLst/>
          </a:prstGeom>
          <a:solidFill>
            <a:srgbClr val="1E7A4C">
              <a:alpha val="50000"/>
            </a:srgbClr>
          </a:solidFill>
          <a:ln w="12700">
            <a:solidFill>
              <a:srgbClr val="1E7A4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84048" y="4839670"/>
            <a:ext cx="1892808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251253" y="4839670"/>
            <a:ext cx="2187245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risk, 3–5 year horizon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663440" y="841248"/>
            <a:ext cx="4206240" cy="4206240"/>
          </a:xfrm>
          <a:prstGeom prst="rect">
            <a:avLst/>
          </a:prstGeom>
          <a:solidFill>
            <a:srgbClr val="162B42"/>
          </a:solidFill>
          <a:ln w="12700">
            <a:solidFill>
              <a:srgbClr val="1E7A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One?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4754880" y="1600200"/>
            <a:ext cx="256032" cy="256032"/>
          </a:xfrm>
          <a:prstGeom prst="ellipse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75488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084064" y="15819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Sharpe &amp; Sortino ratio among all multi-asset funds — best risk-adjusted returns.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754880" y="2258568"/>
            <a:ext cx="256032" cy="256032"/>
          </a:xfrm>
          <a:prstGeom prst="ellipse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754880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084064" y="22402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₹80,768 Cr AUM — massive investor trust &amp; liquidity over 23+ years.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754880" y="2916936"/>
            <a:ext cx="256032" cy="256032"/>
          </a:xfrm>
          <a:prstGeom prst="ellipse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754880" y="2916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084064" y="289864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+ commodity allocation provides inflation hedge missing in pure equity funds.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754880" y="3575304"/>
            <a:ext cx="256032" cy="256032"/>
          </a:xfrm>
          <a:prstGeom prst="ellipse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754880" y="3575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084064" y="355701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20.6% 3Y CAGR rivals pure equity funds while absorbing 40% less drawdown.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4754880" y="4233672"/>
            <a:ext cx="256032" cy="256032"/>
          </a:xfrm>
          <a:prstGeom prst="ellipse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754880" y="4233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084064" y="421538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equity taxation (&gt;65% equity) — better post-tax returns vs debt-heavy peers.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Picks — Side-by-Side Comparison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22960"/>
          <a:ext cx="8778240" cy="42519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Fund Name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AUM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3Y 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5Y 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10Y 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Alpha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Beta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Exp Ratio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Min SIP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E33"/>
                          </a:solidFill>
                        </a:rPr>
                        <a:t>Nippon India Large Cap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B4E8C"/>
                          </a:solidFill>
                        </a:rPr>
                        <a:t>Large Cap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₹41,764 Cr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19.5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21.8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16.0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</a:rPr>
                        <a:t>1.06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6.97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0.97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0.76%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₹100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Very High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E33"/>
                          </a:solidFill>
                        </a:rPr>
                        <a:t>Motilal Oswal Midcap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</a:rPr>
                        <a:t>Mid Cap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₹38,003 Cr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28.5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30.5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21.2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</a:rPr>
                        <a:t>1.12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7.04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1.05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0.72%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₹500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Very High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E33"/>
                          </a:solidFill>
                        </a:rPr>
                        <a:t>HDFC Mid Cap Opp.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</a:rPr>
                        <a:t>Mid Cap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₹75,000+ Cr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24.0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27.5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18.5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</a:rPr>
                        <a:t>1.05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5.50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0.98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0.78%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₹100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Very High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E33"/>
                          </a:solidFill>
                        </a:rPr>
                        <a:t>Nippon India Small Cap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5A10"/>
                          </a:solidFill>
                        </a:rPr>
                        <a:t>Small Cap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₹58,028 Cr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25.5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32.0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23.5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</a:rPr>
                        <a:t>1.10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8.50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1.08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0.67%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₹100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Very High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E33"/>
                          </a:solidFill>
                        </a:rPr>
                        <a:t>SBI Small Cap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5A10"/>
                          </a:solidFill>
                        </a:rPr>
                        <a:t>Small Cap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₹31,790 Cr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22.0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28.5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22.6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7.20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0.98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0.64%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₹500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Very High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E33"/>
                          </a:solidFill>
                        </a:rPr>
                        <a:t>Parag Parikh Flexi Cap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C2A8A"/>
                          </a:solidFill>
                        </a:rPr>
                        <a:t>Flexi Cap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₹1,00,000+ Cr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18.5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24.7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20.0+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</a:rPr>
                        <a:t>1.44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0.66%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₹1,000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Very High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E33"/>
                          </a:solidFill>
                        </a:rPr>
                        <a:t>HDFC Flexi Cap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C2A8A"/>
                          </a:solidFill>
                        </a:rPr>
                        <a:t>Flexi Cap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₹65,000+ Cr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20.0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28.2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18.5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28090"/>
                          </a:solidFill>
                        </a:rPr>
                        <a:t>1.10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0.80%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₹100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Very High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B1E33"/>
                          </a:solidFill>
                        </a:rPr>
                        <a:t>ICICI Pru Multi Asset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Multi Asset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₹80,768 Cr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20.6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20.4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7A4C"/>
                          </a:solidFill>
                        </a:rPr>
                        <a:t>14.5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0.70%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₹100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B1E33"/>
                          </a:solidFill>
                        </a:rPr>
                        <a:t>Very High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10-Year CAGR — Best Picks vs Category Average</a:t>
            </a:r>
            <a:endParaRPr lang="en-US" sz="2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68680"/>
          <a:ext cx="85953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9456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9184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3776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8096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7824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326880" y="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9728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64592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19456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9184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4048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38912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93776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640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3504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8368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13232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8096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22960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77824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326880" y="5486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4864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9728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64592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19456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74320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29184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84048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38912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93776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48640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03504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58368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13232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68096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22960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77824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9326880" y="10972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4864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09728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64592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19456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74320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29184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84048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38912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93776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48640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03504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58368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13232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68096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822960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877824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326880" y="16459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4864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9728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64592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19456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74320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329184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384048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438912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493776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548640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03504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658368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713232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768096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822960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877824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9326880" y="21945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4864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09728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164592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19456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274320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329184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384048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438912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493776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548640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603504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658368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713232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768096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822960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877824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9326880" y="274320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54864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109728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164592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219456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274320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329184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384048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438912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493776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548640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603504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658368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713232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768096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822960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877824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9326880" y="329184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54864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109728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164592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219456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274320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329184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384048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438912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493776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548640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603504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658368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713232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768096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822960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877824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9326880" y="384048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54864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109728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164592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219456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274320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329184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384048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438912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493776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548640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603504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658368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713232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768096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822960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877824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9326880" y="438912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54864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109728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164592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219456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274320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329184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384048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438912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493776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48640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603504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658368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713232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768096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822960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877824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9326880" y="4937760"/>
            <a:ext cx="45720" cy="45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7121F"/>
          </a:solidFill>
          <a:ln w="12700">
            <a:solidFill>
              <a:srgbClr val="07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0" y="0"/>
            <a:ext cx="22860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182"/>
          <p:cNvSpPr/>
          <p:nvPr/>
        </p:nvSpPr>
        <p:spPr>
          <a:xfrm>
            <a:off x="384048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Category Suits You? — Risk-Return Ladder</a:t>
            </a:r>
            <a:endParaRPr lang="en-US" sz="2000" dirty="0"/>
          </a:p>
        </p:txBody>
      </p:sp>
      <p:sp>
        <p:nvSpPr>
          <p:cNvPr id="185" name="Shape 183"/>
          <p:cNvSpPr/>
          <p:nvPr/>
        </p:nvSpPr>
        <p:spPr>
          <a:xfrm>
            <a:off x="274320" y="822960"/>
            <a:ext cx="8595360" cy="768096"/>
          </a:xfrm>
          <a:prstGeom prst="rect">
            <a:avLst/>
          </a:prstGeom>
          <a:solidFill>
            <a:srgbClr val="C05A10">
              <a:alpha val="78000"/>
            </a:srgbClr>
          </a:solidFill>
          <a:ln w="12700">
            <a:solidFill>
              <a:srgbClr val="C05A1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274320" y="822960"/>
            <a:ext cx="109728" cy="768096"/>
          </a:xfrm>
          <a:prstGeom prst="rect">
            <a:avLst/>
          </a:prstGeom>
          <a:solidFill>
            <a:srgbClr val="C05A10"/>
          </a:solidFill>
          <a:ln w="12700">
            <a:solidFill>
              <a:srgbClr val="C05A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Text 185"/>
          <p:cNvSpPr/>
          <p:nvPr/>
        </p:nvSpPr>
        <p:spPr>
          <a:xfrm>
            <a:off x="457200" y="86868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HIGHEST RISK · HIGHEST RETURN</a:t>
            </a:r>
            <a:endParaRPr lang="en-US" sz="950" dirty="0"/>
          </a:p>
        </p:txBody>
      </p:sp>
      <p:sp>
        <p:nvSpPr>
          <p:cNvPr id="188" name="Text 186"/>
          <p:cNvSpPr/>
          <p:nvPr/>
        </p:nvSpPr>
        <p:spPr>
          <a:xfrm>
            <a:off x="457200" y="122529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Nippon India Small Cap / SBI Small Cap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3429000" y="914400"/>
            <a:ext cx="1371600" cy="585216"/>
          </a:xfrm>
          <a:prstGeom prst="rect">
            <a:avLst/>
          </a:prstGeom>
          <a:solidFill>
            <a:srgbClr val="162B42"/>
          </a:solidFill>
          <a:ln w="12700">
            <a:solidFill>
              <a:srgbClr val="C05A1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Text 188"/>
          <p:cNvSpPr/>
          <p:nvPr/>
        </p:nvSpPr>
        <p:spPr>
          <a:xfrm>
            <a:off x="342900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5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20–24%</a:t>
            </a:r>
            <a:endParaRPr lang="en-US" sz="1200" dirty="0"/>
          </a:p>
        </p:txBody>
      </p:sp>
      <p:sp>
        <p:nvSpPr>
          <p:cNvPr id="191" name="Text 189"/>
          <p:cNvSpPr/>
          <p:nvPr/>
        </p:nvSpPr>
        <p:spPr>
          <a:xfrm>
            <a:off x="3429000" y="126187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BB8"/>
                </a:solidFill>
              </a:rPr>
              <a:t>10Y Return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937760" y="914400"/>
            <a:ext cx="1371600" cy="585216"/>
          </a:xfrm>
          <a:prstGeom prst="rect">
            <a:avLst/>
          </a:prstGeom>
          <a:solidFill>
            <a:srgbClr val="162B42"/>
          </a:solidFill>
          <a:ln w="12700">
            <a:solidFill>
              <a:srgbClr val="C05A1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Text 191"/>
          <p:cNvSpPr/>
          <p:nvPr/>
        </p:nvSpPr>
        <p:spPr>
          <a:xfrm>
            <a:off x="493776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5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40–60%</a:t>
            </a:r>
            <a:endParaRPr lang="en-US" sz="1200" dirty="0"/>
          </a:p>
        </p:txBody>
      </p:sp>
      <p:sp>
        <p:nvSpPr>
          <p:cNvPr id="194" name="Text 192"/>
          <p:cNvSpPr/>
          <p:nvPr/>
        </p:nvSpPr>
        <p:spPr>
          <a:xfrm>
            <a:off x="4937760" y="126187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BB8"/>
                </a:solidFill>
              </a:rPr>
              <a:t>Max Drawdown</a:t>
            </a:r>
            <a:endParaRPr lang="en-US" sz="750" dirty="0"/>
          </a:p>
        </p:txBody>
      </p:sp>
      <p:sp>
        <p:nvSpPr>
          <p:cNvPr id="195" name="Shape 193"/>
          <p:cNvSpPr/>
          <p:nvPr/>
        </p:nvSpPr>
        <p:spPr>
          <a:xfrm>
            <a:off x="6446520" y="914400"/>
            <a:ext cx="1371600" cy="585216"/>
          </a:xfrm>
          <a:prstGeom prst="rect">
            <a:avLst/>
          </a:prstGeom>
          <a:solidFill>
            <a:srgbClr val="162B42"/>
          </a:solidFill>
          <a:ln w="12700">
            <a:solidFill>
              <a:srgbClr val="C05A1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Text 194"/>
          <p:cNvSpPr/>
          <p:nvPr/>
        </p:nvSpPr>
        <p:spPr>
          <a:xfrm>
            <a:off x="644652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5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 years</a:t>
            </a:r>
            <a:endParaRPr lang="en-US" sz="1200" dirty="0"/>
          </a:p>
        </p:txBody>
      </p:sp>
      <p:sp>
        <p:nvSpPr>
          <p:cNvPr id="197" name="Text 195"/>
          <p:cNvSpPr/>
          <p:nvPr/>
        </p:nvSpPr>
        <p:spPr>
          <a:xfrm>
            <a:off x="6446520" y="126187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BB8"/>
                </a:solidFill>
              </a:rPr>
              <a:t>Hold For</a:t>
            </a:r>
            <a:endParaRPr lang="en-US" sz="750" dirty="0"/>
          </a:p>
        </p:txBody>
      </p:sp>
      <p:sp>
        <p:nvSpPr>
          <p:cNvPr id="198" name="Text 196"/>
          <p:cNvSpPr/>
          <p:nvPr/>
        </p:nvSpPr>
        <p:spPr>
          <a:xfrm>
            <a:off x="7955280" y="896112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investors. Start SIP only — never lumpsum at market peak.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>
            <a:off x="274320" y="1664208"/>
            <a:ext cx="8595360" cy="768096"/>
          </a:xfrm>
          <a:prstGeom prst="rect">
            <a:avLst/>
          </a:prstGeom>
          <a:solidFill>
            <a:srgbClr val="D4A017">
              <a:alpha val="78000"/>
            </a:srgbClr>
          </a:solidFill>
          <a:ln w="12700">
            <a:solidFill>
              <a:srgbClr val="D4A01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274320" y="1664208"/>
            <a:ext cx="109728" cy="7680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Text 199"/>
          <p:cNvSpPr/>
          <p:nvPr/>
        </p:nvSpPr>
        <p:spPr>
          <a:xfrm>
            <a:off x="457200" y="170992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RISK · HIGH RETURN</a:t>
            </a:r>
            <a:endParaRPr lang="en-US" sz="950" dirty="0"/>
          </a:p>
        </p:txBody>
      </p:sp>
      <p:sp>
        <p:nvSpPr>
          <p:cNvPr id="202" name="Text 200"/>
          <p:cNvSpPr/>
          <p:nvPr/>
        </p:nvSpPr>
        <p:spPr>
          <a:xfrm>
            <a:off x="457200" y="206654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Motilal Oswal Midcap / HDFC Mid Cap</a:t>
            </a:r>
            <a:endParaRPr lang="en-US" sz="900" dirty="0"/>
          </a:p>
        </p:txBody>
      </p:sp>
      <p:sp>
        <p:nvSpPr>
          <p:cNvPr id="203" name="Shape 201"/>
          <p:cNvSpPr/>
          <p:nvPr/>
        </p:nvSpPr>
        <p:spPr>
          <a:xfrm>
            <a:off x="3429000" y="1755648"/>
            <a:ext cx="1371600" cy="585216"/>
          </a:xfrm>
          <a:prstGeom prst="rect">
            <a:avLst/>
          </a:prstGeom>
          <a:solidFill>
            <a:srgbClr val="162B42"/>
          </a:solidFill>
          <a:ln w="12700">
            <a:solidFill>
              <a:srgbClr val="D4A0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Text 202"/>
          <p:cNvSpPr/>
          <p:nvPr/>
        </p:nvSpPr>
        <p:spPr>
          <a:xfrm>
            <a:off x="3429000" y="17556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17–21%</a:t>
            </a:r>
            <a:endParaRPr lang="en-US" sz="1200" dirty="0"/>
          </a:p>
        </p:txBody>
      </p:sp>
      <p:sp>
        <p:nvSpPr>
          <p:cNvPr id="205" name="Text 203"/>
          <p:cNvSpPr/>
          <p:nvPr/>
        </p:nvSpPr>
        <p:spPr>
          <a:xfrm>
            <a:off x="3429000" y="21031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BB8"/>
                </a:solidFill>
              </a:rPr>
              <a:t>10Y Return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4937760" y="1755648"/>
            <a:ext cx="1371600" cy="585216"/>
          </a:xfrm>
          <a:prstGeom prst="rect">
            <a:avLst/>
          </a:prstGeom>
          <a:solidFill>
            <a:srgbClr val="162B42"/>
          </a:solidFill>
          <a:ln w="12700">
            <a:solidFill>
              <a:srgbClr val="D4A0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Text 205"/>
          <p:cNvSpPr/>
          <p:nvPr/>
        </p:nvSpPr>
        <p:spPr>
          <a:xfrm>
            <a:off x="4937760" y="17556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30–45%</a:t>
            </a:r>
            <a:endParaRPr lang="en-US" sz="1200" dirty="0"/>
          </a:p>
        </p:txBody>
      </p:sp>
      <p:sp>
        <p:nvSpPr>
          <p:cNvPr id="208" name="Text 206"/>
          <p:cNvSpPr/>
          <p:nvPr/>
        </p:nvSpPr>
        <p:spPr>
          <a:xfrm>
            <a:off x="4937760" y="21031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BB8"/>
                </a:solidFill>
              </a:rPr>
              <a:t>Max Drawdown</a:t>
            </a:r>
            <a:endParaRPr lang="en-US" sz="750" dirty="0"/>
          </a:p>
        </p:txBody>
      </p:sp>
      <p:sp>
        <p:nvSpPr>
          <p:cNvPr id="209" name="Shape 207"/>
          <p:cNvSpPr/>
          <p:nvPr/>
        </p:nvSpPr>
        <p:spPr>
          <a:xfrm>
            <a:off x="6446520" y="1755648"/>
            <a:ext cx="1371600" cy="585216"/>
          </a:xfrm>
          <a:prstGeom prst="rect">
            <a:avLst/>
          </a:prstGeom>
          <a:solidFill>
            <a:srgbClr val="162B42"/>
          </a:solidFill>
          <a:ln w="12700">
            <a:solidFill>
              <a:srgbClr val="D4A0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Text 208"/>
          <p:cNvSpPr/>
          <p:nvPr/>
        </p:nvSpPr>
        <p:spPr>
          <a:xfrm>
            <a:off x="6446520" y="17556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7–10 years</a:t>
            </a:r>
            <a:endParaRPr lang="en-US" sz="1200" dirty="0"/>
          </a:p>
        </p:txBody>
      </p:sp>
      <p:sp>
        <p:nvSpPr>
          <p:cNvPr id="211" name="Text 209"/>
          <p:cNvSpPr/>
          <p:nvPr/>
        </p:nvSpPr>
        <p:spPr>
          <a:xfrm>
            <a:off x="6446520" y="21031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BB8"/>
                </a:solidFill>
              </a:rPr>
              <a:t>Hold For</a:t>
            </a:r>
            <a:endParaRPr lang="en-US" sz="750" dirty="0"/>
          </a:p>
        </p:txBody>
      </p:sp>
      <p:sp>
        <p:nvSpPr>
          <p:cNvPr id="212" name="Text 210"/>
          <p:cNvSpPr/>
          <p:nvPr/>
        </p:nvSpPr>
        <p:spPr>
          <a:xfrm>
            <a:off x="7955280" y="173736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Moderate-aggressive. Good growth engine. Expect high short-term swings.</a:t>
            </a:r>
            <a:endParaRPr lang="en-US" sz="750" dirty="0"/>
          </a:p>
        </p:txBody>
      </p:sp>
      <p:sp>
        <p:nvSpPr>
          <p:cNvPr id="213" name="Shape 211"/>
          <p:cNvSpPr/>
          <p:nvPr/>
        </p:nvSpPr>
        <p:spPr>
          <a:xfrm>
            <a:off x="274320" y="2505456"/>
            <a:ext cx="8595360" cy="768096"/>
          </a:xfrm>
          <a:prstGeom prst="rect">
            <a:avLst/>
          </a:prstGeom>
          <a:solidFill>
            <a:srgbClr val="5C2A8A">
              <a:alpha val="78000"/>
            </a:srgbClr>
          </a:solidFill>
          <a:ln w="12700">
            <a:solidFill>
              <a:srgbClr val="5C2A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274320" y="2505456"/>
            <a:ext cx="109728" cy="768096"/>
          </a:xfrm>
          <a:prstGeom prst="rect">
            <a:avLst/>
          </a:prstGeom>
          <a:solidFill>
            <a:srgbClr val="5C2A8A"/>
          </a:solidFill>
          <a:ln w="12700">
            <a:solidFill>
              <a:srgbClr val="5C2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Text 213"/>
          <p:cNvSpPr/>
          <p:nvPr/>
        </p:nvSpPr>
        <p:spPr>
          <a:xfrm>
            <a:off x="457200" y="255117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MODERATE-HIGH RISK</a:t>
            </a:r>
            <a:endParaRPr lang="en-US" sz="950" dirty="0"/>
          </a:p>
        </p:txBody>
      </p:sp>
      <p:sp>
        <p:nvSpPr>
          <p:cNvPr id="216" name="Text 214"/>
          <p:cNvSpPr/>
          <p:nvPr/>
        </p:nvSpPr>
        <p:spPr>
          <a:xfrm>
            <a:off x="457200" y="290779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Parag Parikh Flexi Cap / HDFC Flexi Cap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3429000" y="2596896"/>
            <a:ext cx="1371600" cy="585216"/>
          </a:xfrm>
          <a:prstGeom prst="rect">
            <a:avLst/>
          </a:prstGeom>
          <a:solidFill>
            <a:srgbClr val="162B42"/>
          </a:solidFill>
          <a:ln w="12700">
            <a:solidFill>
              <a:srgbClr val="5C2A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Text 216"/>
          <p:cNvSpPr/>
          <p:nvPr/>
        </p:nvSpPr>
        <p:spPr>
          <a:xfrm>
            <a:off x="3429000" y="25968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2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16–20%</a:t>
            </a:r>
            <a:endParaRPr lang="en-US" sz="1200" dirty="0"/>
          </a:p>
        </p:txBody>
      </p:sp>
      <p:sp>
        <p:nvSpPr>
          <p:cNvPr id="219" name="Text 217"/>
          <p:cNvSpPr/>
          <p:nvPr/>
        </p:nvSpPr>
        <p:spPr>
          <a:xfrm>
            <a:off x="3429000" y="29443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BB8"/>
                </a:solidFill>
              </a:rPr>
              <a:t>10Y Return</a:t>
            </a:r>
            <a:endParaRPr lang="en-US" sz="750" dirty="0"/>
          </a:p>
        </p:txBody>
      </p:sp>
      <p:sp>
        <p:nvSpPr>
          <p:cNvPr id="220" name="Shape 218"/>
          <p:cNvSpPr/>
          <p:nvPr/>
        </p:nvSpPr>
        <p:spPr>
          <a:xfrm>
            <a:off x="4937760" y="2596896"/>
            <a:ext cx="1371600" cy="585216"/>
          </a:xfrm>
          <a:prstGeom prst="rect">
            <a:avLst/>
          </a:prstGeom>
          <a:solidFill>
            <a:srgbClr val="162B42"/>
          </a:solidFill>
          <a:ln w="12700">
            <a:solidFill>
              <a:srgbClr val="5C2A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Text 219"/>
          <p:cNvSpPr/>
          <p:nvPr/>
        </p:nvSpPr>
        <p:spPr>
          <a:xfrm>
            <a:off x="4937760" y="25968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2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25–40%</a:t>
            </a:r>
            <a:endParaRPr lang="en-US" sz="1200" dirty="0"/>
          </a:p>
        </p:txBody>
      </p:sp>
      <p:sp>
        <p:nvSpPr>
          <p:cNvPr id="222" name="Text 220"/>
          <p:cNvSpPr/>
          <p:nvPr/>
        </p:nvSpPr>
        <p:spPr>
          <a:xfrm>
            <a:off x="4937760" y="29443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BB8"/>
                </a:solidFill>
              </a:rPr>
              <a:t>Max Drawdown</a:t>
            </a:r>
            <a:endParaRPr lang="en-US" sz="750" dirty="0"/>
          </a:p>
        </p:txBody>
      </p:sp>
      <p:sp>
        <p:nvSpPr>
          <p:cNvPr id="223" name="Shape 221"/>
          <p:cNvSpPr/>
          <p:nvPr/>
        </p:nvSpPr>
        <p:spPr>
          <a:xfrm>
            <a:off x="6446520" y="2596896"/>
            <a:ext cx="1371600" cy="585216"/>
          </a:xfrm>
          <a:prstGeom prst="rect">
            <a:avLst/>
          </a:prstGeom>
          <a:solidFill>
            <a:srgbClr val="162B42"/>
          </a:solidFill>
          <a:ln w="12700">
            <a:solidFill>
              <a:srgbClr val="5C2A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Text 222"/>
          <p:cNvSpPr/>
          <p:nvPr/>
        </p:nvSpPr>
        <p:spPr>
          <a:xfrm>
            <a:off x="6446520" y="25968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2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5–7 years</a:t>
            </a:r>
            <a:endParaRPr lang="en-US" sz="1200" dirty="0"/>
          </a:p>
        </p:txBody>
      </p:sp>
      <p:sp>
        <p:nvSpPr>
          <p:cNvPr id="225" name="Text 223"/>
          <p:cNvSpPr/>
          <p:nvPr/>
        </p:nvSpPr>
        <p:spPr>
          <a:xfrm>
            <a:off x="6446520" y="29443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BB8"/>
                </a:solidFill>
              </a:rPr>
              <a:t>Hold For</a:t>
            </a:r>
            <a:endParaRPr lang="en-US" sz="750" dirty="0"/>
          </a:p>
        </p:txBody>
      </p:sp>
      <p:sp>
        <p:nvSpPr>
          <p:cNvPr id="226" name="Text 224"/>
          <p:cNvSpPr/>
          <p:nvPr/>
        </p:nvSpPr>
        <p:spPr>
          <a:xfrm>
            <a:off x="7955280" y="2578608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All-type investors. Best single-fund equity choice. Manager-driven flexibility.</a:t>
            </a:r>
            <a:endParaRPr lang="en-US" sz="750" dirty="0"/>
          </a:p>
        </p:txBody>
      </p:sp>
      <p:sp>
        <p:nvSpPr>
          <p:cNvPr id="227" name="Shape 225"/>
          <p:cNvSpPr/>
          <p:nvPr/>
        </p:nvSpPr>
        <p:spPr>
          <a:xfrm>
            <a:off x="274320" y="3346704"/>
            <a:ext cx="8595360" cy="768096"/>
          </a:xfrm>
          <a:prstGeom prst="rect">
            <a:avLst/>
          </a:prstGeom>
          <a:solidFill>
            <a:srgbClr val="1B4E8C">
              <a:alpha val="78000"/>
            </a:srgbClr>
          </a:solidFill>
          <a:ln w="12700">
            <a:solidFill>
              <a:srgbClr val="1B4E8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274320" y="3346704"/>
            <a:ext cx="109728" cy="768096"/>
          </a:xfrm>
          <a:prstGeom prst="rect">
            <a:avLst/>
          </a:prstGeom>
          <a:solidFill>
            <a:srgbClr val="1B4E8C"/>
          </a:solidFill>
          <a:ln w="12700">
            <a:solidFill>
              <a:srgbClr val="1B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Text 227"/>
          <p:cNvSpPr/>
          <p:nvPr/>
        </p:nvSpPr>
        <p:spPr>
          <a:xfrm>
            <a:off x="457200" y="339242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MODERATE RISK</a:t>
            </a:r>
            <a:endParaRPr lang="en-US" sz="950" dirty="0"/>
          </a:p>
        </p:txBody>
      </p:sp>
      <p:sp>
        <p:nvSpPr>
          <p:cNvPr id="230" name="Text 228"/>
          <p:cNvSpPr/>
          <p:nvPr/>
        </p:nvSpPr>
        <p:spPr>
          <a:xfrm>
            <a:off x="457200" y="374904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Nippon India Large Cap</a:t>
            </a:r>
            <a:endParaRPr lang="en-US" sz="900" dirty="0"/>
          </a:p>
        </p:txBody>
      </p:sp>
      <p:sp>
        <p:nvSpPr>
          <p:cNvPr id="231" name="Shape 229"/>
          <p:cNvSpPr/>
          <p:nvPr/>
        </p:nvSpPr>
        <p:spPr>
          <a:xfrm>
            <a:off x="3429000" y="3438144"/>
            <a:ext cx="1371600" cy="585216"/>
          </a:xfrm>
          <a:prstGeom prst="rect">
            <a:avLst/>
          </a:prstGeom>
          <a:solidFill>
            <a:srgbClr val="162B42"/>
          </a:solidFill>
          <a:ln w="12700">
            <a:solidFill>
              <a:srgbClr val="1B4E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Text 230"/>
          <p:cNvSpPr/>
          <p:nvPr/>
        </p:nvSpPr>
        <p:spPr>
          <a:xfrm>
            <a:off x="3429000" y="34381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13–16%</a:t>
            </a:r>
            <a:endParaRPr lang="en-US" sz="1200" dirty="0"/>
          </a:p>
        </p:txBody>
      </p:sp>
      <p:sp>
        <p:nvSpPr>
          <p:cNvPr id="233" name="Text 231"/>
          <p:cNvSpPr/>
          <p:nvPr/>
        </p:nvSpPr>
        <p:spPr>
          <a:xfrm>
            <a:off x="3429000" y="37856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BB8"/>
                </a:solidFill>
              </a:rPr>
              <a:t>10Y Return</a:t>
            </a:r>
            <a:endParaRPr lang="en-US" sz="750" dirty="0"/>
          </a:p>
        </p:txBody>
      </p:sp>
      <p:sp>
        <p:nvSpPr>
          <p:cNvPr id="234" name="Shape 232"/>
          <p:cNvSpPr/>
          <p:nvPr/>
        </p:nvSpPr>
        <p:spPr>
          <a:xfrm>
            <a:off x="4937760" y="3438144"/>
            <a:ext cx="1371600" cy="585216"/>
          </a:xfrm>
          <a:prstGeom prst="rect">
            <a:avLst/>
          </a:prstGeom>
          <a:solidFill>
            <a:srgbClr val="162B42"/>
          </a:solidFill>
          <a:ln w="12700">
            <a:solidFill>
              <a:srgbClr val="1B4E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Text 233"/>
          <p:cNvSpPr/>
          <p:nvPr/>
        </p:nvSpPr>
        <p:spPr>
          <a:xfrm>
            <a:off x="4937760" y="34381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20–30%</a:t>
            </a:r>
            <a:endParaRPr lang="en-US" sz="1200" dirty="0"/>
          </a:p>
        </p:txBody>
      </p:sp>
      <p:sp>
        <p:nvSpPr>
          <p:cNvPr id="236" name="Text 234"/>
          <p:cNvSpPr/>
          <p:nvPr/>
        </p:nvSpPr>
        <p:spPr>
          <a:xfrm>
            <a:off x="4937760" y="37856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BB8"/>
                </a:solidFill>
              </a:rPr>
              <a:t>Max Drawdown</a:t>
            </a:r>
            <a:endParaRPr lang="en-US" sz="750" dirty="0"/>
          </a:p>
        </p:txBody>
      </p:sp>
      <p:sp>
        <p:nvSpPr>
          <p:cNvPr id="237" name="Shape 235"/>
          <p:cNvSpPr/>
          <p:nvPr/>
        </p:nvSpPr>
        <p:spPr>
          <a:xfrm>
            <a:off x="6446520" y="3438144"/>
            <a:ext cx="1371600" cy="585216"/>
          </a:xfrm>
          <a:prstGeom prst="rect">
            <a:avLst/>
          </a:prstGeom>
          <a:solidFill>
            <a:srgbClr val="162B42"/>
          </a:solidFill>
          <a:ln w="12700">
            <a:solidFill>
              <a:srgbClr val="1B4E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Text 236"/>
          <p:cNvSpPr/>
          <p:nvPr/>
        </p:nvSpPr>
        <p:spPr>
          <a:xfrm>
            <a:off x="6446520" y="34381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5–7 years</a:t>
            </a:r>
            <a:endParaRPr lang="en-US" sz="1200" dirty="0"/>
          </a:p>
        </p:txBody>
      </p:sp>
      <p:sp>
        <p:nvSpPr>
          <p:cNvPr id="239" name="Text 237"/>
          <p:cNvSpPr/>
          <p:nvPr/>
        </p:nvSpPr>
        <p:spPr>
          <a:xfrm>
            <a:off x="6446520" y="37856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BB8"/>
                </a:solidFill>
              </a:rPr>
              <a:t>Hold For</a:t>
            </a:r>
            <a:endParaRPr lang="en-US" sz="750" dirty="0"/>
          </a:p>
        </p:txBody>
      </p:sp>
      <p:sp>
        <p:nvSpPr>
          <p:cNvPr id="240" name="Text 238"/>
          <p:cNvSpPr/>
          <p:nvPr/>
        </p:nvSpPr>
        <p:spPr>
          <a:xfrm>
            <a:off x="7955280" y="3419856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equity investors. Core portfolio anchor. Stable blue chips.</a:t>
            </a:r>
            <a:endParaRPr lang="en-US" sz="750" dirty="0"/>
          </a:p>
        </p:txBody>
      </p:sp>
      <p:sp>
        <p:nvSpPr>
          <p:cNvPr id="241" name="Shape 239"/>
          <p:cNvSpPr/>
          <p:nvPr/>
        </p:nvSpPr>
        <p:spPr>
          <a:xfrm>
            <a:off x="274320" y="4187952"/>
            <a:ext cx="8595360" cy="768096"/>
          </a:xfrm>
          <a:prstGeom prst="rect">
            <a:avLst/>
          </a:prstGeom>
          <a:solidFill>
            <a:srgbClr val="1E7A4C">
              <a:alpha val="78000"/>
            </a:srgbClr>
          </a:solidFill>
          <a:ln w="12700">
            <a:solidFill>
              <a:srgbClr val="1E7A4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274320" y="4187952"/>
            <a:ext cx="109728" cy="768096"/>
          </a:xfrm>
          <a:prstGeom prst="rect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Text 241"/>
          <p:cNvSpPr/>
          <p:nvPr/>
        </p:nvSpPr>
        <p:spPr>
          <a:xfrm>
            <a:off x="457200" y="42336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LOWEST EQUITY RISK</a:t>
            </a:r>
            <a:endParaRPr lang="en-US" sz="950" dirty="0"/>
          </a:p>
        </p:txBody>
      </p:sp>
      <p:sp>
        <p:nvSpPr>
          <p:cNvPr id="244" name="Text 242"/>
          <p:cNvSpPr/>
          <p:nvPr/>
        </p:nvSpPr>
        <p:spPr>
          <a:xfrm>
            <a:off x="457200" y="459028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ICICI Prudential Multi Asset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3429000" y="4279392"/>
            <a:ext cx="1371600" cy="585216"/>
          </a:xfrm>
          <a:prstGeom prst="rect">
            <a:avLst/>
          </a:prstGeom>
          <a:solidFill>
            <a:srgbClr val="162B42"/>
          </a:solidFill>
          <a:ln w="12700">
            <a:solidFill>
              <a:srgbClr val="1E7A4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Text 244"/>
          <p:cNvSpPr/>
          <p:nvPr/>
        </p:nvSpPr>
        <p:spPr>
          <a:xfrm>
            <a:off x="3429000" y="42793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12–15%</a:t>
            </a:r>
            <a:endParaRPr lang="en-US" sz="1200" dirty="0"/>
          </a:p>
        </p:txBody>
      </p:sp>
      <p:sp>
        <p:nvSpPr>
          <p:cNvPr id="247" name="Text 245"/>
          <p:cNvSpPr/>
          <p:nvPr/>
        </p:nvSpPr>
        <p:spPr>
          <a:xfrm>
            <a:off x="3429000" y="462686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BB8"/>
                </a:solidFill>
              </a:rPr>
              <a:t>10Y Return</a:t>
            </a:r>
            <a:endParaRPr lang="en-US" sz="750" dirty="0"/>
          </a:p>
        </p:txBody>
      </p:sp>
      <p:sp>
        <p:nvSpPr>
          <p:cNvPr id="248" name="Shape 246"/>
          <p:cNvSpPr/>
          <p:nvPr/>
        </p:nvSpPr>
        <p:spPr>
          <a:xfrm>
            <a:off x="4937760" y="4279392"/>
            <a:ext cx="1371600" cy="585216"/>
          </a:xfrm>
          <a:prstGeom prst="rect">
            <a:avLst/>
          </a:prstGeom>
          <a:solidFill>
            <a:srgbClr val="162B42"/>
          </a:solidFill>
          <a:ln w="12700">
            <a:solidFill>
              <a:srgbClr val="1E7A4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Text 247"/>
          <p:cNvSpPr/>
          <p:nvPr/>
        </p:nvSpPr>
        <p:spPr>
          <a:xfrm>
            <a:off x="4937760" y="42793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10–20%</a:t>
            </a:r>
            <a:endParaRPr lang="en-US" sz="1200" dirty="0"/>
          </a:p>
        </p:txBody>
      </p:sp>
      <p:sp>
        <p:nvSpPr>
          <p:cNvPr id="250" name="Text 248"/>
          <p:cNvSpPr/>
          <p:nvPr/>
        </p:nvSpPr>
        <p:spPr>
          <a:xfrm>
            <a:off x="4937760" y="462686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BB8"/>
                </a:solidFill>
              </a:rPr>
              <a:t>Max Drawdown</a:t>
            </a:r>
            <a:endParaRPr lang="en-US" sz="750" dirty="0"/>
          </a:p>
        </p:txBody>
      </p:sp>
      <p:sp>
        <p:nvSpPr>
          <p:cNvPr id="251" name="Shape 249"/>
          <p:cNvSpPr/>
          <p:nvPr/>
        </p:nvSpPr>
        <p:spPr>
          <a:xfrm>
            <a:off x="6446520" y="4279392"/>
            <a:ext cx="1371600" cy="585216"/>
          </a:xfrm>
          <a:prstGeom prst="rect">
            <a:avLst/>
          </a:prstGeom>
          <a:solidFill>
            <a:srgbClr val="162B42"/>
          </a:solidFill>
          <a:ln w="12700">
            <a:solidFill>
              <a:srgbClr val="1E7A4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Text 250"/>
          <p:cNvSpPr/>
          <p:nvPr/>
        </p:nvSpPr>
        <p:spPr>
          <a:xfrm>
            <a:off x="6446520" y="42793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 years</a:t>
            </a:r>
            <a:endParaRPr lang="en-US" sz="1200" dirty="0"/>
          </a:p>
        </p:txBody>
      </p:sp>
      <p:sp>
        <p:nvSpPr>
          <p:cNvPr id="253" name="Text 251"/>
          <p:cNvSpPr/>
          <p:nvPr/>
        </p:nvSpPr>
        <p:spPr>
          <a:xfrm>
            <a:off x="6446520" y="462686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BB8"/>
                </a:solidFill>
              </a:rPr>
              <a:t>Hold For</a:t>
            </a:r>
            <a:endParaRPr lang="en-US" sz="750" dirty="0"/>
          </a:p>
        </p:txBody>
      </p:sp>
      <p:sp>
        <p:nvSpPr>
          <p:cNvPr id="254" name="Text 252"/>
          <p:cNvSpPr/>
          <p:nvPr/>
        </p:nvSpPr>
        <p:spPr>
          <a:xfrm>
            <a:off x="7955280" y="4261104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investors or retirees. Equity + Debt + Gold in one fund.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1491</Words>
  <Application>Microsoft Macintosh PowerPoint</Application>
  <PresentationFormat>On-screen Show (16:9)</PresentationFormat>
  <Paragraphs>449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Mutual Funds — Best Picks 2025-26</dc:title>
  <dc:subject>PptxGenJS Presentation</dc:subject>
  <dc:creator>PptxGenJS</dc:creator>
  <cp:lastModifiedBy>Sujal Hazare</cp:lastModifiedBy>
  <cp:revision>2</cp:revision>
  <dcterms:created xsi:type="dcterms:W3CDTF">2026-03-06T18:27:06Z</dcterms:created>
  <dcterms:modified xsi:type="dcterms:W3CDTF">2026-03-06T18:30:08Z</dcterms:modified>
</cp:coreProperties>
</file>